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400" b="1">
                <a:solidFill>
                  <a:srgbClr val="00F0FF"/>
                </a:solidFill>
              </a:defRPr>
            </a:pPr>
            <a:r>
              <a:t>Phishield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B432FF"/>
                </a:solidFill>
              </a:defRPr>
            </a:pPr>
            <a:r>
              <a:t>AI Powered Phishing Detection &amp; Cyber Threat Protection</a:t>
            </a:r>
            <a:br/>
          </a:p>
          <a:p>
            <a:br/>
            <a:pPr>
              <a:defRPr sz="2000">
                <a:solidFill>
                  <a:srgbClr val="C8C8C8"/>
                </a:solidFill>
              </a:defRPr>
            </a:pPr>
            <a:r>
              <a:t>Team:</a:t>
            </a:r>
            <a:br/>
            <a:r>
              <a:t>Kritika Jha</a:t>
            </a:r>
            <a:br/>
            <a:r>
              <a:t>Tarun Kushwaha</a:t>
            </a:r>
            <a:br/>
            <a:br/>
            <a:r>
              <a:t>Department: B.Tech CSE AIML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3264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Rise of phishing attacks worldwide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Fake websites and malicious links deceive users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Escalation in cyber fraud and identity theft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Severe lack of awareness among general users</a:t>
            </a:r>
          </a:p>
          <a:p>
            <a:pPr>
              <a:defRPr sz="2200" b="1">
                <a:solidFill>
                  <a:srgbClr val="DCE6FF"/>
                </a:solidFill>
                <a:latin typeface="Arial"/>
              </a:defRPr>
            </a:pPr>
            <a:r>
              <a:t>Modern Phishing Statistics: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Over 3.4 billion malicious emails are sent daily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Typosquatting URLs bypass traditional filters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90% of breaches involve human manipulation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0FF"/>
                </a:solidFill>
                <a:latin typeface="Arial"/>
              </a:defRPr>
            </a:pPr>
            <a:r>
              <a:t>Our Solution: Phishield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DCE6FF"/>
                </a:solidFill>
                <a:latin typeface="Arial"/>
              </a:defRPr>
            </a:pPr>
            <a:r>
              <a:t>Phishield AI solves the problem using advanced technology: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Artificial Intelligence &amp; Machine Learning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Real-time URL and semantic analysis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Proactive threat detection system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Instant alerts before users are compromised</a:t>
            </a:r>
          </a:p>
          <a:p>
            <a:pPr>
              <a:defRPr sz="2200" b="1">
                <a:solidFill>
                  <a:srgbClr val="DCE6FF"/>
                </a:solidFill>
                <a:latin typeface="Arial"/>
              </a:defRPr>
            </a:pPr>
            <a:r>
              <a:t>Key Differentiators: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Analyzes behavioral patterns instead of just blacklists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Calculates structural and lexical similarities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Integrates directly into browser sessions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0F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5486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User Input URL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89120" y="1920240"/>
            <a:ext cx="365760" cy="182880"/>
          </a:xfrm>
          <a:prstGeom prst="downArrow">
            <a:avLst/>
          </a:prstGeom>
          <a:solidFill>
            <a:srgbClr val="B432FF"/>
          </a:solidFill>
          <a:ln>
            <a:solidFill>
              <a:srgbClr val="B43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6400800" cy="5486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Frontend Interface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89120" y="2651760"/>
            <a:ext cx="365760" cy="182880"/>
          </a:xfrm>
          <a:prstGeom prst="downArrow">
            <a:avLst/>
          </a:prstGeom>
          <a:solidFill>
            <a:srgbClr val="B432FF"/>
          </a:solidFill>
          <a:ln>
            <a:solidFill>
              <a:srgbClr val="B43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834640"/>
            <a:ext cx="6400800" cy="5486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Feature Extraction Engine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3383280"/>
            <a:ext cx="365760" cy="182880"/>
          </a:xfrm>
          <a:prstGeom prst="downArrow">
            <a:avLst/>
          </a:prstGeom>
          <a:solidFill>
            <a:srgbClr val="B432FF"/>
          </a:solidFill>
          <a:ln>
            <a:solidFill>
              <a:srgbClr val="B43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3566160"/>
            <a:ext cx="6400800" cy="5486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Machine Learning Model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389120" y="4114800"/>
            <a:ext cx="365760" cy="182880"/>
          </a:xfrm>
          <a:prstGeom prst="downArrow">
            <a:avLst/>
          </a:prstGeom>
          <a:solidFill>
            <a:srgbClr val="B432FF"/>
          </a:solidFill>
          <a:ln>
            <a:solidFill>
              <a:srgbClr val="B43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4297680"/>
            <a:ext cx="6400800" cy="5486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Threat Analysis Engine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389120" y="4846320"/>
            <a:ext cx="365760" cy="182880"/>
          </a:xfrm>
          <a:prstGeom prst="downArrow">
            <a:avLst/>
          </a:prstGeom>
          <a:solidFill>
            <a:srgbClr val="B432FF"/>
          </a:solidFill>
          <a:ln>
            <a:solidFill>
              <a:srgbClr val="B43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5029200"/>
            <a:ext cx="6400800" cy="5486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Prediction Output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389120" y="5577840"/>
            <a:ext cx="365760" cy="182880"/>
          </a:xfrm>
          <a:prstGeom prst="downArrow">
            <a:avLst/>
          </a:prstGeom>
          <a:solidFill>
            <a:srgbClr val="B432FF"/>
          </a:solidFill>
          <a:ln>
            <a:solidFill>
              <a:srgbClr val="B43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5760720"/>
            <a:ext cx="6400800" cy="5486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Dashboard &amp;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0FF"/>
                </a:solidFill>
                <a:latin typeface="Arial"/>
              </a:defRPr>
            </a:pPr>
            <a:r>
              <a:t>Working 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5486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1. User enters suspicious URL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89120" y="1920240"/>
            <a:ext cx="365760" cy="182880"/>
          </a:xfrm>
          <a:prstGeom prst="downArrow">
            <a:avLst/>
          </a:prstGeom>
          <a:solidFill>
            <a:srgbClr val="B432FF"/>
          </a:solidFill>
          <a:ln>
            <a:solidFill>
              <a:srgbClr val="B43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6400800" cy="5486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2. System extracts URL features (Length, Special Chars, NLP)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89120" y="2651760"/>
            <a:ext cx="365760" cy="182880"/>
          </a:xfrm>
          <a:prstGeom prst="downArrow">
            <a:avLst/>
          </a:prstGeom>
          <a:solidFill>
            <a:srgbClr val="B432FF"/>
          </a:solidFill>
          <a:ln>
            <a:solidFill>
              <a:srgbClr val="B43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834640"/>
            <a:ext cx="6400800" cy="5486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3. AI model analyzes patterns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3383280"/>
            <a:ext cx="365760" cy="182880"/>
          </a:xfrm>
          <a:prstGeom prst="downArrow">
            <a:avLst/>
          </a:prstGeom>
          <a:solidFill>
            <a:srgbClr val="B432FF"/>
          </a:solidFill>
          <a:ln>
            <a:solidFill>
              <a:srgbClr val="B43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3566160"/>
            <a:ext cx="6400800" cy="5486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4. Threat score generated (0-100 Confidence)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389120" y="4114800"/>
            <a:ext cx="365760" cy="182880"/>
          </a:xfrm>
          <a:prstGeom prst="downArrow">
            <a:avLst/>
          </a:prstGeom>
          <a:solidFill>
            <a:srgbClr val="B432FF"/>
          </a:solidFill>
          <a:ln>
            <a:solidFill>
              <a:srgbClr val="B43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4297680"/>
            <a:ext cx="6400800" cy="5486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5. URL classified as: Safe / Suspicious / Dangerous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389120" y="4846320"/>
            <a:ext cx="365760" cy="182880"/>
          </a:xfrm>
          <a:prstGeom prst="downArrow">
            <a:avLst/>
          </a:prstGeom>
          <a:solidFill>
            <a:srgbClr val="B432FF"/>
          </a:solidFill>
          <a:ln>
            <a:solidFill>
              <a:srgbClr val="B43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5029200"/>
            <a:ext cx="6400800" cy="5486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6. Result visually shown on Dashboard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389120" y="5577840"/>
            <a:ext cx="365760" cy="182880"/>
          </a:xfrm>
          <a:prstGeom prst="downArrow">
            <a:avLst/>
          </a:prstGeom>
          <a:solidFill>
            <a:srgbClr val="B432FF"/>
          </a:solidFill>
          <a:ln>
            <a:solidFill>
              <a:srgbClr val="B43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5760720"/>
            <a:ext cx="6400800" cy="54864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7. Browser extension blocks/alerts user instantly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0FF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DCE6FF"/>
                </a:solidFill>
                <a:latin typeface="Arial"/>
              </a:defRPr>
            </a:pPr>
            <a:r>
              <a:t>Frontend: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HTML5, CSS3 (Glassmorphism &amp; Neon UI), JavaScript</a:t>
            </a:r>
          </a:p>
          <a:p>
            <a:pPr>
              <a:defRPr sz="2200" b="1">
                <a:solidFill>
                  <a:srgbClr val="DCE6FF"/>
                </a:solidFill>
                <a:latin typeface="Arial"/>
              </a:defRPr>
            </a:pPr>
            <a:r>
              <a:t>Backend: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Python (Flask Framework)</a:t>
            </a:r>
          </a:p>
          <a:p>
            <a:pPr>
              <a:defRPr sz="2200" b="1">
                <a:solidFill>
                  <a:srgbClr val="DCE6FF"/>
                </a:solidFill>
                <a:latin typeface="Arial"/>
              </a:defRPr>
            </a:pPr>
            <a:r>
              <a:t>AI / Machine Learning: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Scikit-Learn, Pandas, Joblib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Random Forest Classifier</a:t>
            </a:r>
          </a:p>
          <a:p>
            <a:pPr>
              <a:defRPr sz="2200" b="1">
                <a:solidFill>
                  <a:srgbClr val="DCE6FF"/>
                </a:solidFill>
                <a:latin typeface="Arial"/>
              </a:defRPr>
            </a:pPr>
            <a:r>
              <a:t>Browser Extension: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Chrome Manifest V3 API (JavaScript)</a:t>
            </a:r>
          </a:p>
          <a:p>
            <a:pPr>
              <a:defRPr sz="2200" b="1">
                <a:solidFill>
                  <a:srgbClr val="DCE6FF"/>
                </a:solidFill>
                <a:latin typeface="Arial"/>
              </a:defRPr>
            </a:pPr>
            <a:r>
              <a:t>Database / Storage: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LocalStorage &amp; File System Logging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0FF"/>
                </a:solidFill>
                <a:latin typeface="Arial"/>
              </a:defRPr>
            </a:pPr>
            <a:r>
              <a:t>AI &amp;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DCE6FF"/>
                </a:solidFill>
                <a:latin typeface="Arial"/>
              </a:defRPr>
            </a:pPr>
            <a:r>
              <a:t>Feature Extraction: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URL Length, Subdomains, Hyphens, HTTP/HTTPS usage</a:t>
            </a:r>
          </a:p>
          <a:p>
            <a:pPr>
              <a:defRPr sz="2200" b="1">
                <a:solidFill>
                  <a:srgbClr val="DCE6FF"/>
                </a:solidFill>
                <a:latin typeface="Arial"/>
              </a:defRPr>
            </a:pPr>
            <a:r>
              <a:t>Algorithms Deployed: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Random Forest Model (High Precision, Ensemble Learning)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Logistic Regression (Fallback Analysis)</a:t>
            </a:r>
          </a:p>
          <a:p>
            <a:pPr>
              <a:defRPr sz="2200" b="1">
                <a:solidFill>
                  <a:srgbClr val="DCE6FF"/>
                </a:solidFill>
                <a:latin typeface="Arial"/>
              </a:defRPr>
            </a:pPr>
            <a:r>
              <a:t>Capabilities: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Evaluates lexical and structural similarities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Generates an AI Confidence Score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Analyzes email semantics via NLP techniques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0FF"/>
                </a:solidFill>
                <a:latin typeface="Arial"/>
              </a:defRPr>
            </a:pPr>
            <a:r>
              <a:t>Browser Extension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Live phishing detection on active tabs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Dynamic Website Trust Score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Real-time popup warnings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Seamless Browser protection system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Prevents accidental clicks on malicious payloads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Communicates directly with the Python API Backend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Lightweight, fast, and un-intrusive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0FF"/>
                </a:solidFill>
                <a:latin typeface="Arial"/>
              </a:defRPr>
            </a:pPr>
            <a:r>
              <a:t>Dashboard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Global Threat Analytics Dashboard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Live AI detection stats &amp; Threat Maps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Comprehensive Scan History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Interactive Risk Meter &amp; AI Explainability Graphs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Enterprise Reporting: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Automated PDF and CSV exports</a:t>
            </a:r>
          </a:p>
          <a:p>
            <a:pPr lvl="1">
              <a:defRPr sz="1800">
                <a:solidFill>
                  <a:srgbClr val="DCE6FF"/>
                </a:solidFill>
                <a:latin typeface="Arial"/>
              </a:defRPr>
            </a:pPr>
            <a:r>
              <a:t>Real-time global threat feed simulation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0FF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Real-time URL Scanning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AI Phishing &amp; Clone Site Detection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Multi-Level Threat Classification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Live Browser Extension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Advanced Dashboard Analytics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Proactive Cybersecurity Awareness via AI Assistant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Instantaneous Threat Alerts &amp; Visual Gauges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0FF"/>
                </a:solidFill>
                <a:latin typeface="Arial"/>
              </a:defRPr>
            </a:pPr>
            <a:r>
              <a:t>Real World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User Protection: Shields individuals from zero-day phishing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Banking Safety: Prevents financial credentials from theft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Scam Prevention: Reduces success rates of social engineering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Cyber Awareness: Educates users with AI explanations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Enterprise Defense: Blocks attacks before they breach the network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0FF"/>
                </a:solidFill>
                <a:latin typeface="Arial"/>
              </a:defRPr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QR Phishing Detection (Quishing)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Full IMAP Email Phishing Scanner Integration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Autonomous Multi-Agent AI Chatbot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Dedicated Mobile App for link verification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Live Global Cyber Threat Map Integrations</a:t>
            </a:r>
          </a:p>
          <a:p>
            <a:pPr>
              <a:defRPr sz="2200">
                <a:solidFill>
                  <a:srgbClr val="DCE6FF"/>
                </a:solidFill>
                <a:latin typeface="Arial"/>
              </a:defRPr>
            </a:pPr>
            <a:r>
              <a:t>Voice Assistant alerts for visually impaired users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F0FF"/>
                </a:solidFill>
              </a:defRPr>
            </a:pPr>
            <a: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2800" i="1">
                <a:solidFill>
                  <a:srgbClr val="DCE6FF"/>
                </a:solidFill>
              </a:defRPr>
            </a:pPr>
            <a:r>
              <a:t>“Phishield AI aims to create a safer digital ecosystem using Artificial Intelligence and modern cybersecurity solutions.”</a:t>
            </a:r>
          </a:p>
          <a:p>
            <a:br/>
            <a:pPr algn="ctr">
              <a:defRPr sz="3200" b="1">
                <a:solidFill>
                  <a:srgbClr val="B432FF"/>
                </a:solidFill>
              </a:defRPr>
            </a:pPr>
            <a:r>
              <a:t>Thank You!</a:t>
            </a:r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